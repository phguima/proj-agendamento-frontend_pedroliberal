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4B05F0-B01E-4C1C-94DE-C7EFC35F89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B018A-9176-418F-9808-97126E7143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DCD47D-5F69-48D8-BF88-2F6B13CCCCF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3"/>
          <p:cNvSpPr/>
          <p:nvPr/>
        </p:nvSpPr>
        <p:spPr>
          <a:xfrm>
            <a:off x="295200" y="2564280"/>
            <a:ext cx="116010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Health</a:t>
            </a:r>
            <a:r>
              <a:rPr lang="en-US" sz="6000" b="1" u="none" strike="noStrike">
                <a:solidFill>
                  <a:srgbClr val="2a9d8f"/>
                </a:solidFill>
                <a:effectLst/>
                <a:uFillTx/>
                <a:latin typeface="Poppins"/>
                <a:ea typeface="Poppins"/>
              </a:rPr>
              <a:t>Scheduler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85;p13"/>
          <p:cNvSpPr/>
          <p:nvPr/>
        </p:nvSpPr>
        <p:spPr>
          <a:xfrm>
            <a:off x="571680" y="3897720"/>
            <a:ext cx="1104876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Gestão Eficiente e Simplificada de Agendamentos Médicos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0;p14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91;p14"/>
          <p:cNvPicPr/>
          <p:nvPr/>
        </p:nvPicPr>
        <p:blipFill>
          <a:blip r:embed="rId2"/>
          <a:stretch/>
        </p:blipFill>
        <p:spPr>
          <a:xfrm>
            <a:off x="-1428840" y="3524400"/>
            <a:ext cx="4762080" cy="47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oogle Shape;92;p14"/>
          <p:cNvPicPr/>
          <p:nvPr/>
        </p:nvPicPr>
        <p:blipFill>
          <a:blip r:embed="rId3"/>
          <a:stretch/>
        </p:blipFill>
        <p:spPr>
          <a:xfrm>
            <a:off x="571680" y="1719360"/>
            <a:ext cx="3492360" cy="44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93;p14"/>
          <p:cNvPicPr/>
          <p:nvPr/>
        </p:nvPicPr>
        <p:blipFill>
          <a:blip r:embed="rId4"/>
          <a:stretch/>
        </p:blipFill>
        <p:spPr>
          <a:xfrm>
            <a:off x="4349880" y="1719360"/>
            <a:ext cx="3492360" cy="44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94;p14"/>
          <p:cNvPicPr/>
          <p:nvPr/>
        </p:nvPicPr>
        <p:blipFill>
          <a:blip r:embed="rId5"/>
          <a:stretch/>
        </p:blipFill>
        <p:spPr>
          <a:xfrm>
            <a:off x="8128080" y="1719360"/>
            <a:ext cx="3492360" cy="44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95;p14"/>
          <p:cNvPicPr/>
          <p:nvPr/>
        </p:nvPicPr>
        <p:blipFill>
          <a:blip r:embed="rId6"/>
          <a:stretch/>
        </p:blipFill>
        <p:spPr>
          <a:xfrm>
            <a:off x="857160" y="2157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96;p14"/>
          <p:cNvSpPr/>
          <p:nvPr/>
        </p:nvSpPr>
        <p:spPr>
          <a:xfrm>
            <a:off x="857160" y="3062160"/>
            <a:ext cx="3066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Poppins SemiBold"/>
                <a:ea typeface="Poppins SemiBold"/>
              </a:rPr>
              <a:t>Cadastro Inteligente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7;p14"/>
          <p:cNvSpPr/>
          <p:nvPr/>
        </p:nvSpPr>
        <p:spPr>
          <a:xfrm>
            <a:off x="857160" y="4119480"/>
            <a:ext cx="292068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Fluxos de entrada otimizados e separados. Médicos informam CRM e especialidade, enquanto pacientes inserem dados básicos de contato.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Google Shape;98;p14"/>
          <p:cNvPicPr/>
          <p:nvPr/>
        </p:nvPicPr>
        <p:blipFill>
          <a:blip r:embed="rId7"/>
          <a:stretch/>
        </p:blipFill>
        <p:spPr>
          <a:xfrm>
            <a:off x="4635720" y="2157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Google Shape;99;p14"/>
          <p:cNvSpPr/>
          <p:nvPr/>
        </p:nvSpPr>
        <p:spPr>
          <a:xfrm>
            <a:off x="4635720" y="3062160"/>
            <a:ext cx="3066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Poppins SemiBold"/>
                <a:ea typeface="Poppins SemiBold"/>
              </a:rPr>
              <a:t>Gestão Centralizada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100;p14"/>
          <p:cNvSpPr/>
          <p:nvPr/>
        </p:nvSpPr>
        <p:spPr>
          <a:xfrm>
            <a:off x="4635720" y="4119480"/>
            <a:ext cx="292068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Um painel único para acompanhamento. Visualize todas as consultas do dia, os próximos agendamentos e o histórico completo.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Google Shape;101;p14"/>
          <p:cNvPicPr/>
          <p:nvPr/>
        </p:nvPicPr>
        <p:blipFill>
          <a:blip r:embed="rId8"/>
          <a:stretch/>
        </p:blipFill>
        <p:spPr>
          <a:xfrm>
            <a:off x="8413920" y="2157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Google Shape;102;p14"/>
          <p:cNvSpPr/>
          <p:nvPr/>
        </p:nvSpPr>
        <p:spPr>
          <a:xfrm>
            <a:off x="8413920" y="3062160"/>
            <a:ext cx="2300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Poppins SemiBold"/>
                <a:ea typeface="Poppins SemiBold"/>
              </a:rPr>
              <a:t>Controle Total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03;p14"/>
          <p:cNvSpPr/>
          <p:nvPr/>
        </p:nvSpPr>
        <p:spPr>
          <a:xfrm>
            <a:off x="8413920" y="3662280"/>
            <a:ext cx="2920680" cy="21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Autonomia garantida para ambas as partes. Crie, altere informações ou cancele agendamentos com apenas alguns cliques e de forma segura.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104;p14"/>
          <p:cNvPicPr/>
          <p:nvPr/>
        </p:nvPicPr>
        <p:blipFill>
          <a:blip r:embed="rId9"/>
          <a:stretch/>
        </p:blipFill>
        <p:spPr>
          <a:xfrm>
            <a:off x="1000080" y="2338560"/>
            <a:ext cx="38052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105;p14"/>
          <p:cNvPicPr/>
          <p:nvPr/>
        </p:nvPicPr>
        <p:blipFill>
          <a:blip r:embed="rId10"/>
          <a:stretch/>
        </p:blipFill>
        <p:spPr>
          <a:xfrm>
            <a:off x="4835520" y="2338560"/>
            <a:ext cx="26640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06;p14"/>
          <p:cNvPicPr/>
          <p:nvPr/>
        </p:nvPicPr>
        <p:blipFill>
          <a:blip r:embed="rId11"/>
          <a:stretch/>
        </p:blipFill>
        <p:spPr>
          <a:xfrm>
            <a:off x="8595000" y="23385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07;p14"/>
          <p:cNvSpPr/>
          <p:nvPr/>
        </p:nvSpPr>
        <p:spPr>
          <a:xfrm>
            <a:off x="571680" y="571680"/>
            <a:ext cx="11601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Visão Geral do Sistema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12;p15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13;p15"/>
          <p:cNvPicPr/>
          <p:nvPr/>
        </p:nvPicPr>
        <p:blipFill>
          <a:blip r:embed="rId2"/>
          <a:stretch/>
        </p:blipFill>
        <p:spPr>
          <a:xfrm>
            <a:off x="6334200" y="1943280"/>
            <a:ext cx="528588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14;p15"/>
          <p:cNvSpPr/>
          <p:nvPr/>
        </p:nvSpPr>
        <p:spPr>
          <a:xfrm>
            <a:off x="952560" y="1943280"/>
            <a:ext cx="49050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Acesso Seguro: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Implementação de login validando credenciais no backend.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15;p15"/>
          <p:cNvSpPr/>
          <p:nvPr/>
        </p:nvSpPr>
        <p:spPr>
          <a:xfrm>
            <a:off x="952560" y="2790720"/>
            <a:ext cx="49050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Perfil Profissional: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Etapa de cadastro estendida que vincula especialidades clínicas diretamente ao ID do médico.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16;p15"/>
          <p:cNvSpPr/>
          <p:nvPr/>
        </p:nvSpPr>
        <p:spPr>
          <a:xfrm>
            <a:off x="952560" y="3943440"/>
            <a:ext cx="49050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Perfil Paciente: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Coleta ágil de CPF e telefone, preparando o usuário para realizar agendamentos em segundos.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117;p15"/>
          <p:cNvSpPr/>
          <p:nvPr/>
        </p:nvSpPr>
        <p:spPr>
          <a:xfrm>
            <a:off x="952560" y="5095800"/>
            <a:ext cx="49050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Integração UX: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Transição suave entre as abas de "Login" e "Cadastro" sem recarregamento da página.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Google Shape;118;p15"/>
          <p:cNvPicPr/>
          <p:nvPr/>
        </p:nvPicPr>
        <p:blipFill>
          <a:blip r:embed="rId3"/>
          <a:srcRect l="13549" t="0" r="13555" b="0"/>
          <a:stretch/>
        </p:blipFill>
        <p:spPr>
          <a:xfrm>
            <a:off x="6372360" y="1981080"/>
            <a:ext cx="5209920" cy="37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119;p15"/>
          <p:cNvSpPr/>
          <p:nvPr/>
        </p:nvSpPr>
        <p:spPr>
          <a:xfrm>
            <a:off x="571680" y="571680"/>
            <a:ext cx="11601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Autenticação e Perfis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120;p15"/>
          <p:cNvPicPr/>
          <p:nvPr/>
        </p:nvPicPr>
        <p:blipFill>
          <a:blip r:embed="rId4"/>
          <a:stretch/>
        </p:blipFill>
        <p:spPr>
          <a:xfrm>
            <a:off x="571680" y="19620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121;p15"/>
          <p:cNvPicPr/>
          <p:nvPr/>
        </p:nvPicPr>
        <p:blipFill>
          <a:blip r:embed="rId5"/>
          <a:stretch/>
        </p:blipFill>
        <p:spPr>
          <a:xfrm>
            <a:off x="571680" y="28098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22;p15"/>
          <p:cNvPicPr/>
          <p:nvPr/>
        </p:nvPicPr>
        <p:blipFill>
          <a:blip r:embed="rId6"/>
          <a:stretch/>
        </p:blipFill>
        <p:spPr>
          <a:xfrm>
            <a:off x="571680" y="39625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123;p15"/>
          <p:cNvPicPr/>
          <p:nvPr/>
        </p:nvPicPr>
        <p:blipFill>
          <a:blip r:embed="rId7"/>
          <a:stretch/>
        </p:blipFill>
        <p:spPr>
          <a:xfrm>
            <a:off x="571680" y="5114880"/>
            <a:ext cx="228240" cy="24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28;p16"/>
          <p:cNvSpPr/>
          <p:nvPr/>
        </p:nvSpPr>
        <p:spPr>
          <a:xfrm>
            <a:off x="571680" y="571680"/>
            <a:ext cx="555048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Painel de Controle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129;p16"/>
          <p:cNvPicPr/>
          <p:nvPr/>
        </p:nvPicPr>
        <p:blipFill>
          <a:blip r:embed="rId1"/>
          <a:srcRect l="22987" t="0" r="22987" b="0"/>
          <a:stretch/>
        </p:blipFill>
        <p:spPr>
          <a:xfrm>
            <a:off x="5100120" y="0"/>
            <a:ext cx="7091640" cy="6857640"/>
          </a:xfrm>
          <a:prstGeom prst="rect">
            <a:avLst/>
          </a:prstGeom>
          <a:noFill/>
          <a:ln w="38160">
            <a:solidFill>
              <a:srgbClr val="ffffff"/>
            </a:solidFill>
            <a:round/>
          </a:ln>
        </p:spPr>
      </p:pic>
      <p:sp>
        <p:nvSpPr>
          <p:cNvPr id="43" name="Google Shape;130;p16"/>
          <p:cNvSpPr/>
          <p:nvPr/>
        </p:nvSpPr>
        <p:spPr>
          <a:xfrm>
            <a:off x="571680" y="2314440"/>
            <a:ext cx="55504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64653"/>
                </a:solidFill>
                <a:effectLst/>
                <a:uFillTx/>
                <a:latin typeface="Poppins SemiBold"/>
                <a:ea typeface="Poppins SemiBold"/>
              </a:rPr>
              <a:t>Navegação Intuitiva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31;p16"/>
          <p:cNvSpPr/>
          <p:nvPr/>
        </p:nvSpPr>
        <p:spPr>
          <a:xfrm>
            <a:off x="571680" y="2962440"/>
            <a:ext cx="435456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O coração operacional do </a:t>
            </a: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HealthScheduler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. O Dashboard foi desenhado para maximizar a legibilidade dos dados diários.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32;p16"/>
          <p:cNvSpPr/>
          <p:nvPr/>
        </p:nvSpPr>
        <p:spPr>
          <a:xfrm>
            <a:off x="571680" y="4122360"/>
            <a:ext cx="435456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Através de uma navegação superior clara, o usuário alterna instantaneamente entre a "Visão Geral", "Próximas Consultas" filtradas por datas futuras, e o "Histórico" consolidado de atendimentos finalizados.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37;p17"/>
          <p:cNvPicPr/>
          <p:nvPr/>
        </p:nvPicPr>
        <p:blipFill>
          <a:blip r:embed="rId1"/>
          <a:stretch/>
        </p:blipFill>
        <p:spPr>
          <a:xfrm>
            <a:off x="-1428840" y="3524400"/>
            <a:ext cx="4762080" cy="47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138;p17"/>
          <p:cNvPicPr/>
          <p:nvPr/>
        </p:nvPicPr>
        <p:blipFill>
          <a:blip r:embed="rId2"/>
          <a:stretch/>
        </p:blipFill>
        <p:spPr>
          <a:xfrm>
            <a:off x="6334200" y="1943280"/>
            <a:ext cx="528588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Google Shape;139;p17"/>
          <p:cNvSpPr/>
          <p:nvPr/>
        </p:nvSpPr>
        <p:spPr>
          <a:xfrm>
            <a:off x="952560" y="1943280"/>
            <a:ext cx="49050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Experiência Fluida: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Uso de modais sobrepostos (pop-ups) para evitar a perda de contexto durante a marcação.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140;p17"/>
          <p:cNvSpPr/>
          <p:nvPr/>
        </p:nvSpPr>
        <p:spPr>
          <a:xfrm>
            <a:off x="952560" y="3095640"/>
            <a:ext cx="49050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Busca Dinâmica: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O sistema carrega dinamicamente a lista de profissionais médicos diretamente do banco de dados (API).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141;p17"/>
          <p:cNvSpPr/>
          <p:nvPr/>
        </p:nvSpPr>
        <p:spPr>
          <a:xfrm>
            <a:off x="952560" y="4248000"/>
            <a:ext cx="49050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Edição Simplificada: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Permite ajuste rápido de datas e adição de observações cruciais pré-consulta.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42;p17"/>
          <p:cNvSpPr/>
          <p:nvPr/>
        </p:nvSpPr>
        <p:spPr>
          <a:xfrm>
            <a:off x="952560" y="5095800"/>
            <a:ext cx="49050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Flexibilidade:</a:t>
            </a: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 Botões de ação diretos nos "cards" para edição e cancelamento imediato.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143;p17"/>
          <p:cNvPicPr/>
          <p:nvPr/>
        </p:nvPicPr>
        <p:blipFill>
          <a:blip r:embed="rId3"/>
          <a:srcRect l="13549" t="0" r="13555" b="0"/>
          <a:stretch/>
        </p:blipFill>
        <p:spPr>
          <a:xfrm>
            <a:off x="6372360" y="1981080"/>
            <a:ext cx="5209920" cy="37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144;p17"/>
          <p:cNvSpPr/>
          <p:nvPr/>
        </p:nvSpPr>
        <p:spPr>
          <a:xfrm>
            <a:off x="590400" y="571680"/>
            <a:ext cx="1160136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Fluxo de Agendamento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145;p17"/>
          <p:cNvPicPr/>
          <p:nvPr/>
        </p:nvPicPr>
        <p:blipFill>
          <a:blip r:embed="rId4"/>
          <a:stretch/>
        </p:blipFill>
        <p:spPr>
          <a:xfrm>
            <a:off x="571680" y="19620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Google Shape;146;p17"/>
          <p:cNvPicPr/>
          <p:nvPr/>
        </p:nvPicPr>
        <p:blipFill>
          <a:blip r:embed="rId5"/>
          <a:stretch/>
        </p:blipFill>
        <p:spPr>
          <a:xfrm>
            <a:off x="571680" y="31147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Google Shape;147;p17"/>
          <p:cNvPicPr/>
          <p:nvPr/>
        </p:nvPicPr>
        <p:blipFill>
          <a:blip r:embed="rId6"/>
          <a:stretch/>
        </p:blipFill>
        <p:spPr>
          <a:xfrm>
            <a:off x="571680" y="426708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Google Shape;148;p17"/>
          <p:cNvPicPr/>
          <p:nvPr/>
        </p:nvPicPr>
        <p:blipFill>
          <a:blip r:embed="rId7"/>
          <a:stretch/>
        </p:blipFill>
        <p:spPr>
          <a:xfrm>
            <a:off x="571680" y="5114880"/>
            <a:ext cx="228240" cy="24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53;p18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154;p18"/>
          <p:cNvPicPr/>
          <p:nvPr/>
        </p:nvPicPr>
        <p:blipFill>
          <a:blip r:embed="rId2"/>
          <a:stretch/>
        </p:blipFill>
        <p:spPr>
          <a:xfrm>
            <a:off x="571680" y="2262240"/>
            <a:ext cx="5285880" cy="336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oogle Shape;155;p18"/>
          <p:cNvPicPr/>
          <p:nvPr/>
        </p:nvPicPr>
        <p:blipFill>
          <a:blip r:embed="rId3"/>
          <a:stretch/>
        </p:blipFill>
        <p:spPr>
          <a:xfrm>
            <a:off x="6334200" y="2262240"/>
            <a:ext cx="5285880" cy="336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56;p18"/>
          <p:cNvSpPr/>
          <p:nvPr/>
        </p:nvSpPr>
        <p:spPr>
          <a:xfrm>
            <a:off x="961920" y="2652840"/>
            <a:ext cx="473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Frontend Responsivo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57;p18"/>
          <p:cNvSpPr/>
          <p:nvPr/>
        </p:nvSpPr>
        <p:spPr>
          <a:xfrm>
            <a:off x="961920" y="3252960"/>
            <a:ext cx="450504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Desenvolvido com fundamentos sólidos de web (HTML5, CSS3, e Vanilla JavaScript). A interface utiliza Grid e Flexbox para garantir que listas e formulários se adaptem com perfeição a qualquer resolução, mantendo um código leve e ágil.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58;p18"/>
          <p:cNvSpPr/>
          <p:nvPr/>
        </p:nvSpPr>
        <p:spPr>
          <a:xfrm>
            <a:off x="6724800" y="2652840"/>
            <a:ext cx="4730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Integração via API REST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59;p18"/>
          <p:cNvSpPr/>
          <p:nvPr/>
        </p:nvSpPr>
        <p:spPr>
          <a:xfrm>
            <a:off x="6724800" y="3252960"/>
            <a:ext cx="450504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Inter"/>
                <a:ea typeface="Inter"/>
              </a:rPr>
              <a:t>A arquitetura se baseia em chamadas assíncronas (fetch API) para um servidor Python/FastAPI (ou similar) operando na porta 8001. Todo o roteamento de dados, autenticação e operações CRUD ocorrem sem bloqueios na interface.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60;p18"/>
          <p:cNvSpPr/>
          <p:nvPr/>
        </p:nvSpPr>
        <p:spPr>
          <a:xfrm>
            <a:off x="571680" y="571680"/>
            <a:ext cx="11601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Arquitetura Técnica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53;p 1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154;p 2"/>
          <p:cNvPicPr/>
          <p:nvPr/>
        </p:nvPicPr>
        <p:blipFill>
          <a:blip r:embed="rId2"/>
          <a:stretch/>
        </p:blipFill>
        <p:spPr>
          <a:xfrm>
            <a:off x="249480" y="2057400"/>
            <a:ext cx="5608080" cy="35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55;p 2"/>
          <p:cNvPicPr/>
          <p:nvPr/>
        </p:nvPicPr>
        <p:blipFill>
          <a:blip r:embed="rId3"/>
          <a:stretch/>
        </p:blipFill>
        <p:spPr>
          <a:xfrm>
            <a:off x="6334200" y="2097360"/>
            <a:ext cx="5545080" cy="352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160;p 2"/>
          <p:cNvSpPr/>
          <p:nvPr/>
        </p:nvSpPr>
        <p:spPr>
          <a:xfrm>
            <a:off x="571680" y="571680"/>
            <a:ext cx="11601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Exemplos de telas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4"/>
          <a:stretch/>
        </p:blipFill>
        <p:spPr>
          <a:xfrm>
            <a:off x="346320" y="2426400"/>
            <a:ext cx="5420160" cy="283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5"/>
          <a:stretch/>
        </p:blipFill>
        <p:spPr>
          <a:xfrm>
            <a:off x="6400800" y="2426400"/>
            <a:ext cx="5393160" cy="281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53;p 2"/>
          <p:cNvPicPr/>
          <p:nvPr/>
        </p:nvPicPr>
        <p:blipFill>
          <a:blip r:embed="rId1"/>
          <a:stretch/>
        </p:blipFill>
        <p:spPr>
          <a:xfrm>
            <a:off x="9334440" y="-95256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54;p 1"/>
          <p:cNvPicPr/>
          <p:nvPr/>
        </p:nvPicPr>
        <p:blipFill>
          <a:blip r:embed="rId2"/>
          <a:stretch/>
        </p:blipFill>
        <p:spPr>
          <a:xfrm>
            <a:off x="249480" y="2057400"/>
            <a:ext cx="5608080" cy="356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55;p 1"/>
          <p:cNvPicPr/>
          <p:nvPr/>
        </p:nvPicPr>
        <p:blipFill>
          <a:blip r:embed="rId3"/>
          <a:stretch/>
        </p:blipFill>
        <p:spPr>
          <a:xfrm>
            <a:off x="6334200" y="2097360"/>
            <a:ext cx="5545080" cy="352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160;p 1"/>
          <p:cNvSpPr/>
          <p:nvPr/>
        </p:nvSpPr>
        <p:spPr>
          <a:xfrm>
            <a:off x="571680" y="571680"/>
            <a:ext cx="116010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380" b="0" u="none" strike="noStrike">
                <a:solidFill>
                  <a:srgbClr val="2a9d8f"/>
                </a:solidFill>
                <a:effectLst/>
                <a:uFillTx/>
                <a:latin typeface="Poppins SemiBold"/>
                <a:ea typeface="Poppins SemiBold"/>
              </a:rPr>
              <a:t>Exemplos de telas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4"/>
          <a:stretch/>
        </p:blipFill>
        <p:spPr>
          <a:xfrm>
            <a:off x="347040" y="2426760"/>
            <a:ext cx="5420160" cy="283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/>
          <p:cNvPicPr/>
          <p:nvPr/>
        </p:nvPicPr>
        <p:blipFill>
          <a:blip r:embed="rId5"/>
          <a:stretch/>
        </p:blipFill>
        <p:spPr>
          <a:xfrm>
            <a:off x="6400800" y="2453040"/>
            <a:ext cx="5369760" cy="28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65;p19"/>
          <p:cNvPicPr/>
          <p:nvPr/>
        </p:nvPicPr>
        <p:blipFill>
          <a:blip r:embed="rId1"/>
          <a:stretch/>
        </p:blipFill>
        <p:spPr>
          <a:xfrm>
            <a:off x="571680" y="4352040"/>
            <a:ext cx="11048760" cy="5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66;p19"/>
          <p:cNvSpPr/>
          <p:nvPr/>
        </p:nvSpPr>
        <p:spPr>
          <a:xfrm>
            <a:off x="295200" y="1963080"/>
            <a:ext cx="11601000" cy="10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6750" b="1" u="none" strike="noStrike">
                <a:solidFill>
                  <a:srgbClr val="ffffff"/>
                </a:solidFill>
                <a:effectLst/>
                <a:uFillTx/>
                <a:latin typeface="Poppins"/>
                <a:ea typeface="Poppins"/>
              </a:rPr>
              <a:t>Dúvidas?</a:t>
            </a:r>
            <a:endParaRPr lang="en-US" sz="6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67;p19"/>
          <p:cNvSpPr/>
          <p:nvPr/>
        </p:nvSpPr>
        <p:spPr>
          <a:xfrm>
            <a:off x="571680" y="3448800"/>
            <a:ext cx="1104876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Obrigado pela atenção durante a apresentação!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2026-04-08T18:56:30Z</dcterms:modified>
  <cp:revision>1</cp:revision>
  <dc:subject/>
  <dc:title/>
</cp:coreProperties>
</file>